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1371600" y="2011680"/>
            <a:ext cx="9144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144000" cy="1371600"/>
          </a:xfrm>
          <a:prstGeom prst="rect">
            <a:avLst/>
          </a:prstGeom>
          <a:noFill/>
        </p:spPr>
        <p:txBody>
          <a:bodyPr wrap="square">
            <a:spAutoFit/>
          </a:bodyPr>
          <a:lstStyle/>
          <a:p>
            <a:pPr algn="l">
              <a:defRPr sz="3600" b="1">
                <a:solidFill>
                  <a:srgbClr val="FFFFFF"/>
                </a:solidFill>
                <a:latin typeface="Meiryo"/>
              </a:defRPr>
            </a:pPr>
            <a:r>
              <a:t>ソーシャルメディアの利用が</a:t>
            </a:r>
            <a:br/>
            <a:r>
              <a:t>若者のメンタルヘルスに与える影響について</a:t>
            </a:r>
          </a:p>
        </p:txBody>
      </p:sp>
      <p:sp>
        <p:nvSpPr>
          <p:cNvPr id="4" name="TextBox 3"/>
          <p:cNvSpPr txBox="1"/>
          <p:nvPr/>
        </p:nvSpPr>
        <p:spPr>
          <a:xfrm>
            <a:off x="1371600" y="4114800"/>
            <a:ext cx="5486400" cy="457200"/>
          </a:xfrm>
          <a:prstGeom prst="rect">
            <a:avLst/>
          </a:prstGeom>
          <a:noFill/>
        </p:spPr>
        <p:txBody>
          <a:bodyPr wrap="square">
            <a:spAutoFit/>
          </a:bodyPr>
          <a:lstStyle/>
          <a:p>
            <a:pPr algn="l">
              <a:defRPr sz="2000" b="0">
                <a:solidFill>
                  <a:srgbClr val="AEBFD5"/>
                </a:solidFill>
                <a:latin typeface="Meiryo"/>
              </a:defRPr>
            </a:pPr>
            <a:r>
              <a:t>後藤 潤</a:t>
            </a:r>
          </a:p>
        </p:txBody>
      </p:sp>
      <p:sp>
        <p:nvSpPr>
          <p:cNvPr id="5" name="TextBox 4"/>
          <p:cNvSpPr txBox="1"/>
          <p:nvPr/>
        </p:nvSpPr>
        <p:spPr>
          <a:xfrm>
            <a:off x="1371600" y="4663440"/>
            <a:ext cx="5486400" cy="457200"/>
          </a:xfrm>
          <a:prstGeom prst="rect">
            <a:avLst/>
          </a:prstGeom>
          <a:noFill/>
        </p:spPr>
        <p:txBody>
          <a:bodyPr wrap="square">
            <a:spAutoFit/>
          </a:bodyPr>
          <a:lstStyle/>
          <a:p>
            <a:pPr algn="l">
              <a:defRPr sz="1600" b="0">
                <a:solidFill>
                  <a:srgbClr val="8599AD"/>
                </a:solidFill>
                <a:latin typeface="Meiryo"/>
              </a:defRPr>
            </a:pPr>
            <a:r>
              <a:t>2024年8月21日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5486400" cy="731520"/>
          </a:xfrm>
          <a:prstGeom prst="rect">
            <a:avLst/>
          </a:prstGeom>
          <a:noFill/>
        </p:spPr>
        <p:txBody>
          <a:bodyPr wrap="square">
            <a:spAutoFit/>
          </a:bodyPr>
          <a:lstStyle/>
          <a:p>
            <a:pPr algn="l">
              <a:defRPr sz="3200" b="1">
                <a:solidFill>
                  <a:srgbClr val="1B3A5C"/>
                </a:solidFill>
                <a:latin typeface="Meiryo"/>
              </a:defRPr>
            </a:pPr>
            <a:r>
              <a:t>目次</a:t>
            </a:r>
          </a:p>
        </p:txBody>
      </p:sp>
      <p:sp>
        <p:nvSpPr>
          <p:cNvPr id="4" name="TextBox 3"/>
          <p:cNvSpPr txBox="1"/>
          <p:nvPr/>
        </p:nvSpPr>
        <p:spPr>
          <a:xfrm>
            <a:off x="1097280" y="1645920"/>
            <a:ext cx="9144000" cy="4114800"/>
          </a:xfrm>
          <a:prstGeom prst="rect">
            <a:avLst/>
          </a:prstGeom>
          <a:noFill/>
        </p:spPr>
        <p:txBody>
          <a:bodyPr wrap="square">
            <a:spAutoFit/>
          </a:bodyPr>
          <a:lstStyle/>
          <a:p>
            <a:pPr>
              <a:spcAft>
                <a:spcPts val="800"/>
              </a:spcAft>
              <a:defRPr sz="2000">
                <a:solidFill>
                  <a:srgbClr val="2C3E50"/>
                </a:solidFill>
                <a:latin typeface="Meiryo"/>
              </a:defRPr>
            </a:pPr>
            <a:r>
              <a:t>1. はじめに — 研究の背景・目的・文献レビュー</a:t>
            </a:r>
          </a:p>
          <a:p>
            <a:pPr>
              <a:spcAft>
                <a:spcPts val="800"/>
              </a:spcAft>
              <a:defRPr sz="2000">
                <a:solidFill>
                  <a:srgbClr val="2C3E50"/>
                </a:solidFill>
                <a:latin typeface="Meiryo"/>
              </a:defRPr>
            </a:pPr>
            <a:r>
              <a:t>2. データ — 使用データ・変数定義・前処理</a:t>
            </a:r>
          </a:p>
          <a:p>
            <a:pPr>
              <a:spcAft>
                <a:spcPts val="800"/>
              </a:spcAft>
              <a:defRPr sz="2000">
                <a:solidFill>
                  <a:srgbClr val="2C3E50"/>
                </a:solidFill>
                <a:latin typeface="Meiryo"/>
              </a:defRPr>
            </a:pPr>
            <a:r>
              <a:t>3. 実証モデルと分析手法 — 仮説・モデル・手法</a:t>
            </a:r>
          </a:p>
          <a:p>
            <a:pPr>
              <a:spcAft>
                <a:spcPts val="800"/>
              </a:spcAft>
              <a:defRPr sz="2000">
                <a:solidFill>
                  <a:srgbClr val="2C3E50"/>
                </a:solidFill>
                <a:latin typeface="Meiryo"/>
              </a:defRPr>
            </a:pPr>
            <a:r>
              <a:t>4. 結果 — 主要結果・ロバスト性検証・政策的含意</a:t>
            </a:r>
          </a:p>
          <a:p>
            <a:pPr>
              <a:spcAft>
                <a:spcPts val="800"/>
              </a:spcAft>
              <a:defRPr sz="2000">
                <a:solidFill>
                  <a:srgbClr val="2C3E50"/>
                </a:solidFill>
                <a:latin typeface="Meiryo"/>
              </a:defRPr>
            </a:pPr>
            <a:r>
              <a:t>5. 結論 — 要約・貢献・今後の課題・政策提言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200" b="1">
                <a:solidFill>
                  <a:srgbClr val="1B3A5C"/>
                </a:solidFill>
                <a:latin typeface="Meiryo"/>
              </a:defRPr>
            </a:pPr>
            <a:r>
              <a:t>1. はじめに</a:t>
            </a:r>
          </a:p>
        </p:txBody>
      </p:sp>
      <p:sp>
        <p:nvSpPr>
          <p:cNvPr id="4" name="Rectangle 3"/>
          <p:cNvSpPr/>
          <p:nvPr/>
        </p:nvSpPr>
        <p:spPr>
          <a:xfrm>
            <a:off x="731520" y="1645920"/>
            <a:ext cx="5029200" cy="43891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57200"/>
          </a:xfrm>
          <a:prstGeom prst="rect">
            <a:avLst/>
          </a:prstGeom>
          <a:noFill/>
        </p:spPr>
        <p:txBody>
          <a:bodyPr wrap="square">
            <a:spAutoFit/>
          </a:bodyPr>
          <a:lstStyle/>
          <a:p>
            <a:pPr algn="l">
              <a:defRPr sz="2000" b="1">
                <a:solidFill>
                  <a:srgbClr val="2E86C1"/>
                </a:solidFill>
                <a:latin typeface="Meiryo"/>
              </a:defRPr>
            </a:pPr>
            <a:r>
              <a:t>研究の背景と動機</a:t>
            </a:r>
          </a:p>
        </p:txBody>
      </p:sp>
      <p:sp>
        <p:nvSpPr>
          <p:cNvPr id="6" name="TextBox 5"/>
          <p:cNvSpPr txBox="1"/>
          <p:nvPr/>
        </p:nvSpPr>
        <p:spPr>
          <a:xfrm>
            <a:off x="1005840" y="2377440"/>
            <a:ext cx="4572000" cy="1371600"/>
          </a:xfrm>
          <a:prstGeom prst="rect">
            <a:avLst/>
          </a:prstGeom>
          <a:noFill/>
        </p:spPr>
        <p:txBody>
          <a:bodyPr wrap="square">
            <a:spAutoFit/>
          </a:bodyPr>
          <a:lstStyle/>
          <a:p>
            <a:pPr algn="l">
              <a:defRPr sz="1600" b="0">
                <a:solidFill>
                  <a:srgbClr val="2C3E50"/>
                </a:solidFill>
                <a:latin typeface="Meiryo"/>
              </a:defRPr>
            </a:pPr>
            <a:r>
              <a:t>若者におけるソーシャルメディア利用の急増と、メンタルヘルス問題の増加の関連性についての関心が高まっている。</a:t>
            </a:r>
          </a:p>
        </p:txBody>
      </p:sp>
      <p:sp>
        <p:nvSpPr>
          <p:cNvPr id="7" name="TextBox 6"/>
          <p:cNvSpPr txBox="1"/>
          <p:nvPr/>
        </p:nvSpPr>
        <p:spPr>
          <a:xfrm>
            <a:off x="1005840" y="3657600"/>
            <a:ext cx="4572000" cy="457200"/>
          </a:xfrm>
          <a:prstGeom prst="rect">
            <a:avLst/>
          </a:prstGeom>
          <a:noFill/>
        </p:spPr>
        <p:txBody>
          <a:bodyPr wrap="square">
            <a:spAutoFit/>
          </a:bodyPr>
          <a:lstStyle/>
          <a:p>
            <a:pPr algn="l">
              <a:defRPr sz="2000" b="1">
                <a:solidFill>
                  <a:srgbClr val="2E86C1"/>
                </a:solidFill>
                <a:latin typeface="Meiryo"/>
              </a:defRPr>
            </a:pPr>
            <a:r>
              <a:t>研究の目的と重要性</a:t>
            </a:r>
          </a:p>
        </p:txBody>
      </p:sp>
      <p:sp>
        <p:nvSpPr>
          <p:cNvPr id="8" name="TextBox 7"/>
          <p:cNvSpPr txBox="1"/>
          <p:nvPr/>
        </p:nvSpPr>
        <p:spPr>
          <a:xfrm>
            <a:off x="1005840" y="4206240"/>
            <a:ext cx="4572000" cy="1371600"/>
          </a:xfrm>
          <a:prstGeom prst="rect">
            <a:avLst/>
          </a:prstGeom>
          <a:noFill/>
        </p:spPr>
        <p:txBody>
          <a:bodyPr wrap="square">
            <a:spAutoFit/>
          </a:bodyPr>
          <a:lstStyle/>
          <a:p>
            <a:pPr algn="l">
              <a:defRPr sz="1600" b="0">
                <a:solidFill>
                  <a:srgbClr val="2C3E50"/>
                </a:solidFill>
                <a:latin typeface="Meiryo"/>
              </a:defRPr>
            </a:pPr>
            <a:r>
              <a:t>関連性を計量的に検証し、政策的な示唆を提供することを目的とする。</a:t>
            </a:r>
          </a:p>
        </p:txBody>
      </p:sp>
      <p:sp>
        <p:nvSpPr>
          <p:cNvPr id="9" name="Rectangle 8"/>
          <p:cNvSpPr/>
          <p:nvPr/>
        </p:nvSpPr>
        <p:spPr>
          <a:xfrm>
            <a:off x="6217920" y="1645920"/>
            <a:ext cx="5029200" cy="43891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28800"/>
            <a:ext cx="4572000" cy="457200"/>
          </a:xfrm>
          <a:prstGeom prst="rect">
            <a:avLst/>
          </a:prstGeom>
          <a:noFill/>
        </p:spPr>
        <p:txBody>
          <a:bodyPr wrap="square">
            <a:spAutoFit/>
          </a:bodyPr>
          <a:lstStyle/>
          <a:p>
            <a:pPr algn="l">
              <a:defRPr sz="2000" b="1">
                <a:solidFill>
                  <a:srgbClr val="2E86C1"/>
                </a:solidFill>
                <a:latin typeface="Meiryo"/>
              </a:defRPr>
            </a:pPr>
            <a:r>
              <a:t>文献レビューと研究の位置づけ</a:t>
            </a:r>
          </a:p>
        </p:txBody>
      </p:sp>
      <p:sp>
        <p:nvSpPr>
          <p:cNvPr id="11" name="TextBox 10"/>
          <p:cNvSpPr txBox="1"/>
          <p:nvPr/>
        </p:nvSpPr>
        <p:spPr>
          <a:xfrm>
            <a:off x="6492240" y="2377440"/>
            <a:ext cx="4572000" cy="1371600"/>
          </a:xfrm>
          <a:prstGeom prst="rect">
            <a:avLst/>
          </a:prstGeom>
          <a:noFill/>
        </p:spPr>
        <p:txBody>
          <a:bodyPr wrap="square">
            <a:spAutoFit/>
          </a:bodyPr>
          <a:lstStyle/>
          <a:p>
            <a:pPr algn="l">
              <a:defRPr sz="1600" b="0">
                <a:solidFill>
                  <a:srgbClr val="2C3E50"/>
                </a:solidFill>
                <a:latin typeface="Meiryo"/>
              </a:defRPr>
            </a:pPr>
            <a:r>
              <a:t>これまでの研究で明らかにされていることと、本研究が新たに提供する知見について述べる。</a:t>
            </a:r>
          </a:p>
        </p:txBody>
      </p:sp>
      <p:sp>
        <p:nvSpPr>
          <p:cNvPr id="12" name="TextBox 11"/>
          <p:cNvSpPr txBox="1"/>
          <p:nvPr/>
        </p:nvSpPr>
        <p:spPr>
          <a:xfrm>
            <a:off x="6492240" y="3657600"/>
            <a:ext cx="4572000" cy="457200"/>
          </a:xfrm>
          <a:prstGeom prst="rect">
            <a:avLst/>
          </a:prstGeom>
          <a:noFill/>
        </p:spPr>
        <p:txBody>
          <a:bodyPr wrap="square">
            <a:spAutoFit/>
          </a:bodyPr>
          <a:lstStyle/>
          <a:p>
            <a:pPr algn="l">
              <a:defRPr sz="2000" b="1">
                <a:solidFill>
                  <a:srgbClr val="2E86C1"/>
                </a:solidFill>
                <a:latin typeface="Meiryo"/>
              </a:defRPr>
            </a:pPr>
            <a:r>
              <a:t>論文の構成</a:t>
            </a:r>
          </a:p>
        </p:txBody>
      </p:sp>
      <p:sp>
        <p:nvSpPr>
          <p:cNvPr id="13" name="TextBox 12"/>
          <p:cNvSpPr txBox="1"/>
          <p:nvPr/>
        </p:nvSpPr>
        <p:spPr>
          <a:xfrm>
            <a:off x="6492240" y="4206240"/>
            <a:ext cx="4572000" cy="1371600"/>
          </a:xfrm>
          <a:prstGeom prst="rect">
            <a:avLst/>
          </a:prstGeom>
          <a:noFill/>
        </p:spPr>
        <p:txBody>
          <a:bodyPr wrap="square">
            <a:spAutoFit/>
          </a:bodyPr>
          <a:lstStyle/>
          <a:p>
            <a:pPr algn="l">
              <a:defRPr sz="1600" b="0">
                <a:solidFill>
                  <a:srgbClr val="2C3E50"/>
                </a:solidFill>
                <a:latin typeface="Meiryo"/>
              </a:defRPr>
            </a:pPr>
            <a:r>
              <a:t>データ → 実証モデル → 結果 → 結論の順に構成。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200" b="1">
                <a:solidFill>
                  <a:srgbClr val="1B3A5C"/>
                </a:solidFill>
                <a:latin typeface="Meiryo"/>
              </a:defRPr>
            </a:pPr>
            <a:r>
              <a:t>2. データ</a:t>
            </a:r>
          </a:p>
        </p:txBody>
      </p:sp>
      <p:sp>
        <p:nvSpPr>
          <p:cNvPr id="4" name="Rectangle 3"/>
          <p:cNvSpPr/>
          <p:nvPr/>
        </p:nvSpPr>
        <p:spPr>
          <a:xfrm>
            <a:off x="731520" y="1645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480560" cy="457200"/>
          </a:xfrm>
          <a:prstGeom prst="rect">
            <a:avLst/>
          </a:prstGeom>
          <a:noFill/>
        </p:spPr>
        <p:txBody>
          <a:bodyPr wrap="square">
            <a:spAutoFit/>
          </a:bodyPr>
          <a:lstStyle/>
          <a:p>
            <a:pPr algn="l">
              <a:defRPr sz="1800" b="1">
                <a:solidFill>
                  <a:srgbClr val="2E86C1"/>
                </a:solidFill>
                <a:latin typeface="Meiryo"/>
              </a:defRPr>
            </a:pPr>
            <a:r>
              <a:t>使用データの概要</a:t>
            </a:r>
          </a:p>
        </p:txBody>
      </p:sp>
      <p:sp>
        <p:nvSpPr>
          <p:cNvPr id="6" name="TextBox 5"/>
          <p:cNvSpPr txBox="1"/>
          <p:nvPr/>
        </p:nvSpPr>
        <p:spPr>
          <a:xfrm>
            <a:off x="1005840" y="2377440"/>
            <a:ext cx="4480560" cy="1097280"/>
          </a:xfrm>
          <a:prstGeom prst="rect">
            <a:avLst/>
          </a:prstGeom>
          <a:noFill/>
        </p:spPr>
        <p:txBody>
          <a:bodyPr wrap="square">
            <a:spAutoFit/>
          </a:bodyPr>
          <a:lstStyle/>
          <a:p>
            <a:pPr algn="l">
              <a:defRPr sz="1400" b="0">
                <a:solidFill>
                  <a:srgbClr val="2C3E50"/>
                </a:solidFill>
                <a:latin typeface="Meiryo"/>
              </a:defRPr>
            </a:pPr>
            <a:r>
              <a:t>若者を対象とした大規模なアンケート調査データ、</a:t>
            </a:r>
            <a:br/>
            <a:r>
              <a:t>または公開されているデータベースを用いる。</a:t>
            </a:r>
          </a:p>
        </p:txBody>
      </p:sp>
      <p:sp>
        <p:nvSpPr>
          <p:cNvPr id="7" name="Rectangle 6"/>
          <p:cNvSpPr/>
          <p:nvPr/>
        </p:nvSpPr>
        <p:spPr>
          <a:xfrm>
            <a:off x="6217920" y="1645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480560" cy="457200"/>
          </a:xfrm>
          <a:prstGeom prst="rect">
            <a:avLst/>
          </a:prstGeom>
          <a:noFill/>
        </p:spPr>
        <p:txBody>
          <a:bodyPr wrap="square">
            <a:spAutoFit/>
          </a:bodyPr>
          <a:lstStyle/>
          <a:p>
            <a:pPr algn="l">
              <a:defRPr sz="1800" b="1">
                <a:solidFill>
                  <a:srgbClr val="2E86C1"/>
                </a:solidFill>
                <a:latin typeface="Meiryo"/>
              </a:defRPr>
            </a:pPr>
            <a:r>
              <a:t>変数の定義と記述統計</a:t>
            </a:r>
          </a:p>
        </p:txBody>
      </p:sp>
      <p:sp>
        <p:nvSpPr>
          <p:cNvPr id="9" name="TextBox 8"/>
          <p:cNvSpPr txBox="1"/>
          <p:nvPr/>
        </p:nvSpPr>
        <p:spPr>
          <a:xfrm>
            <a:off x="6492240" y="2377440"/>
            <a:ext cx="4480560" cy="1097280"/>
          </a:xfrm>
          <a:prstGeom prst="rect">
            <a:avLst/>
          </a:prstGeom>
          <a:noFill/>
        </p:spPr>
        <p:txBody>
          <a:bodyPr wrap="square">
            <a:spAutoFit/>
          </a:bodyPr>
          <a:lstStyle/>
          <a:p>
            <a:pPr algn="l">
              <a:defRPr sz="1400" b="0">
                <a:solidFill>
                  <a:srgbClr val="2C3E50"/>
                </a:solidFill>
                <a:latin typeface="Meiryo"/>
              </a:defRPr>
            </a:pPr>
            <a:r>
              <a:t>ソーシャルメディア利用時間（説明変数）、</a:t>
            </a:r>
            <a:br/>
            <a:r>
              <a:t>メンタルヘルス指標：うつ症状・不安感など（被説明変数）。</a:t>
            </a:r>
          </a:p>
        </p:txBody>
      </p:sp>
      <p:sp>
        <p:nvSpPr>
          <p:cNvPr id="10" name="Rectangle 9"/>
          <p:cNvSpPr/>
          <p:nvPr/>
        </p:nvSpPr>
        <p:spPr>
          <a:xfrm>
            <a:off x="731520" y="3931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4480560" cy="457200"/>
          </a:xfrm>
          <a:prstGeom prst="rect">
            <a:avLst/>
          </a:prstGeom>
          <a:noFill/>
        </p:spPr>
        <p:txBody>
          <a:bodyPr wrap="square">
            <a:spAutoFit/>
          </a:bodyPr>
          <a:lstStyle/>
          <a:p>
            <a:pPr algn="l">
              <a:defRPr sz="1800" b="1">
                <a:solidFill>
                  <a:srgbClr val="2E86C1"/>
                </a:solidFill>
                <a:latin typeface="Meiryo"/>
              </a:defRPr>
            </a:pPr>
            <a:r>
              <a:t>データの前処理</a:t>
            </a:r>
          </a:p>
        </p:txBody>
      </p:sp>
      <p:sp>
        <p:nvSpPr>
          <p:cNvPr id="12" name="TextBox 11"/>
          <p:cNvSpPr txBox="1"/>
          <p:nvPr/>
        </p:nvSpPr>
        <p:spPr>
          <a:xfrm>
            <a:off x="1005840" y="4663440"/>
            <a:ext cx="4480560" cy="1097280"/>
          </a:xfrm>
          <a:prstGeom prst="rect">
            <a:avLst/>
          </a:prstGeom>
          <a:noFill/>
        </p:spPr>
        <p:txBody>
          <a:bodyPr wrap="square">
            <a:spAutoFit/>
          </a:bodyPr>
          <a:lstStyle/>
          <a:p>
            <a:pPr algn="l">
              <a:defRPr sz="1400" b="0">
                <a:solidFill>
                  <a:srgbClr val="2C3E50"/>
                </a:solidFill>
                <a:latin typeface="Meiryo"/>
              </a:defRPr>
            </a:pPr>
            <a:r>
              <a:t>欠測データの処理や異常値の取り扱い方法について説明する。</a:t>
            </a:r>
          </a:p>
        </p:txBody>
      </p:sp>
      <p:sp>
        <p:nvSpPr>
          <p:cNvPr id="13" name="Rectangle 12"/>
          <p:cNvSpPr/>
          <p:nvPr/>
        </p:nvSpPr>
        <p:spPr>
          <a:xfrm>
            <a:off x="6217920" y="3931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114800"/>
            <a:ext cx="4480560" cy="457200"/>
          </a:xfrm>
          <a:prstGeom prst="rect">
            <a:avLst/>
          </a:prstGeom>
          <a:noFill/>
        </p:spPr>
        <p:txBody>
          <a:bodyPr wrap="square">
            <a:spAutoFit/>
          </a:bodyPr>
          <a:lstStyle/>
          <a:p>
            <a:pPr algn="l">
              <a:defRPr sz="1800" b="1">
                <a:solidFill>
                  <a:srgbClr val="2E86C1"/>
                </a:solidFill>
                <a:latin typeface="Meiryo"/>
              </a:defRPr>
            </a:pPr>
            <a:r>
              <a:t>データの限界と制約</a:t>
            </a:r>
          </a:p>
        </p:txBody>
      </p:sp>
      <p:sp>
        <p:nvSpPr>
          <p:cNvPr id="15" name="TextBox 14"/>
          <p:cNvSpPr txBox="1"/>
          <p:nvPr/>
        </p:nvSpPr>
        <p:spPr>
          <a:xfrm>
            <a:off x="6492240" y="4663440"/>
            <a:ext cx="4480560" cy="1097280"/>
          </a:xfrm>
          <a:prstGeom prst="rect">
            <a:avLst/>
          </a:prstGeom>
          <a:noFill/>
        </p:spPr>
        <p:txBody>
          <a:bodyPr wrap="square">
            <a:spAutoFit/>
          </a:bodyPr>
          <a:lstStyle/>
          <a:p>
            <a:pPr algn="l">
              <a:defRPr sz="1400" b="0">
                <a:solidFill>
                  <a:srgbClr val="2C3E50"/>
                </a:solidFill>
                <a:latin typeface="Meiryo"/>
              </a:defRPr>
            </a:pPr>
            <a:r>
              <a:t>データに関する制約やバイアスの可能性を考慮する。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200" b="1">
                <a:solidFill>
                  <a:srgbClr val="1B3A5C"/>
                </a:solidFill>
                <a:latin typeface="Meiryo"/>
              </a:defRPr>
            </a:pPr>
            <a:r>
              <a:t>3. 実証モデルと分析手法</a:t>
            </a:r>
          </a:p>
        </p:txBody>
      </p:sp>
      <p:sp>
        <p:nvSpPr>
          <p:cNvPr id="4" name="Rectangle 3"/>
          <p:cNvSpPr/>
          <p:nvPr/>
        </p:nvSpPr>
        <p:spPr>
          <a:xfrm>
            <a:off x="731520" y="1645920"/>
            <a:ext cx="3383280" cy="41148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057400" y="1920240"/>
            <a:ext cx="731520" cy="73152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400" b="1">
                <a:solidFill>
                  <a:srgbClr val="FFFFFF"/>
                </a:solidFill>
                <a:latin typeface="Meiryo"/>
              </a:defRPr>
            </a:pPr>
            <a:r>
              <a:t>1</a:t>
            </a:r>
          </a:p>
        </p:txBody>
      </p:sp>
      <p:sp>
        <p:nvSpPr>
          <p:cNvPr id="6" name="TextBox 5"/>
          <p:cNvSpPr txBox="1"/>
          <p:nvPr/>
        </p:nvSpPr>
        <p:spPr>
          <a:xfrm>
            <a:off x="1005840" y="2926080"/>
            <a:ext cx="2834640" cy="457200"/>
          </a:xfrm>
          <a:prstGeom prst="rect">
            <a:avLst/>
          </a:prstGeom>
          <a:noFill/>
        </p:spPr>
        <p:txBody>
          <a:bodyPr wrap="square">
            <a:spAutoFit/>
          </a:bodyPr>
          <a:lstStyle/>
          <a:p>
            <a:pPr algn="ctr">
              <a:defRPr sz="1800" b="1">
                <a:solidFill>
                  <a:srgbClr val="2E86C1"/>
                </a:solidFill>
                <a:latin typeface="Meiryo"/>
              </a:defRPr>
            </a:pPr>
            <a:r>
              <a:t>理論的背景と仮説</a:t>
            </a:r>
          </a:p>
        </p:txBody>
      </p:sp>
      <p:sp>
        <p:nvSpPr>
          <p:cNvPr id="7" name="TextBox 6"/>
          <p:cNvSpPr txBox="1"/>
          <p:nvPr/>
        </p:nvSpPr>
        <p:spPr>
          <a:xfrm>
            <a:off x="1005840" y="3566160"/>
            <a:ext cx="2834640" cy="1828800"/>
          </a:xfrm>
          <a:prstGeom prst="rect">
            <a:avLst/>
          </a:prstGeom>
          <a:noFill/>
        </p:spPr>
        <p:txBody>
          <a:bodyPr wrap="square">
            <a:spAutoFit/>
          </a:bodyPr>
          <a:lstStyle/>
          <a:p>
            <a:pPr algn="ctr">
              <a:defRPr sz="1400" b="0">
                <a:solidFill>
                  <a:srgbClr val="2C3E50"/>
                </a:solidFill>
                <a:latin typeface="Meiryo"/>
              </a:defRPr>
            </a:pPr>
            <a:r>
              <a:t>ソーシャルメディア利用がメンタルヘルスに</a:t>
            </a:r>
            <a:br/>
            <a:r>
              <a:t>負の影響を与えるという仮説を設定。</a:t>
            </a:r>
          </a:p>
        </p:txBody>
      </p:sp>
      <p:sp>
        <p:nvSpPr>
          <p:cNvPr id="8" name="Rectangle 7"/>
          <p:cNvSpPr/>
          <p:nvPr/>
        </p:nvSpPr>
        <p:spPr>
          <a:xfrm>
            <a:off x="4389120" y="1645920"/>
            <a:ext cx="3383280" cy="41148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715000" y="1920240"/>
            <a:ext cx="731520" cy="73152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400" b="1">
                <a:solidFill>
                  <a:srgbClr val="FFFFFF"/>
                </a:solidFill>
                <a:latin typeface="Meiryo"/>
              </a:defRPr>
            </a:pPr>
            <a:r>
              <a:t>2</a:t>
            </a:r>
          </a:p>
        </p:txBody>
      </p:sp>
      <p:sp>
        <p:nvSpPr>
          <p:cNvPr id="10" name="TextBox 9"/>
          <p:cNvSpPr txBox="1"/>
          <p:nvPr/>
        </p:nvSpPr>
        <p:spPr>
          <a:xfrm>
            <a:off x="4663440" y="2926080"/>
            <a:ext cx="2834640" cy="457200"/>
          </a:xfrm>
          <a:prstGeom prst="rect">
            <a:avLst/>
          </a:prstGeom>
          <a:noFill/>
        </p:spPr>
        <p:txBody>
          <a:bodyPr wrap="square">
            <a:spAutoFit/>
          </a:bodyPr>
          <a:lstStyle/>
          <a:p>
            <a:pPr algn="ctr">
              <a:defRPr sz="1800" b="1">
                <a:solidFill>
                  <a:srgbClr val="2E86C1"/>
                </a:solidFill>
                <a:latin typeface="Meiryo"/>
              </a:defRPr>
            </a:pPr>
            <a:r>
              <a:t>実証モデルの概要</a:t>
            </a:r>
          </a:p>
        </p:txBody>
      </p:sp>
      <p:sp>
        <p:nvSpPr>
          <p:cNvPr id="11" name="TextBox 10"/>
          <p:cNvSpPr txBox="1"/>
          <p:nvPr/>
        </p:nvSpPr>
        <p:spPr>
          <a:xfrm>
            <a:off x="4663440" y="3566160"/>
            <a:ext cx="2834640" cy="1828800"/>
          </a:xfrm>
          <a:prstGeom prst="rect">
            <a:avLst/>
          </a:prstGeom>
          <a:noFill/>
        </p:spPr>
        <p:txBody>
          <a:bodyPr wrap="square">
            <a:spAutoFit/>
          </a:bodyPr>
          <a:lstStyle/>
          <a:p>
            <a:pPr algn="ctr">
              <a:defRPr sz="1400" b="0">
                <a:solidFill>
                  <a:srgbClr val="2C3E50"/>
                </a:solidFill>
                <a:latin typeface="Meiryo"/>
              </a:defRPr>
            </a:pPr>
            <a:r>
              <a:t>ソーシャルメディア利用時間を説明変数、</a:t>
            </a:r>
            <a:br/>
            <a:r>
              <a:t>メンタルヘルス指標をアウトカム変数とした</a:t>
            </a:r>
            <a:br/>
            <a:r>
              <a:t>回帰モデルを推定する。</a:t>
            </a:r>
          </a:p>
        </p:txBody>
      </p:sp>
      <p:sp>
        <p:nvSpPr>
          <p:cNvPr id="12" name="Rectangle 11"/>
          <p:cNvSpPr/>
          <p:nvPr/>
        </p:nvSpPr>
        <p:spPr>
          <a:xfrm>
            <a:off x="8046720" y="1645920"/>
            <a:ext cx="3383280" cy="41148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72600" y="1920240"/>
            <a:ext cx="731520" cy="73152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400" b="1">
                <a:solidFill>
                  <a:srgbClr val="FFFFFF"/>
                </a:solidFill>
                <a:latin typeface="Meiryo"/>
              </a:defRPr>
            </a:pPr>
            <a:r>
              <a:t>3</a:t>
            </a:r>
          </a:p>
        </p:txBody>
      </p:sp>
      <p:sp>
        <p:nvSpPr>
          <p:cNvPr id="14" name="TextBox 13"/>
          <p:cNvSpPr txBox="1"/>
          <p:nvPr/>
        </p:nvSpPr>
        <p:spPr>
          <a:xfrm>
            <a:off x="8321040" y="2926080"/>
            <a:ext cx="2834640" cy="457200"/>
          </a:xfrm>
          <a:prstGeom prst="rect">
            <a:avLst/>
          </a:prstGeom>
          <a:noFill/>
        </p:spPr>
        <p:txBody>
          <a:bodyPr wrap="square">
            <a:spAutoFit/>
          </a:bodyPr>
          <a:lstStyle/>
          <a:p>
            <a:pPr algn="ctr">
              <a:defRPr sz="1800" b="1">
                <a:solidFill>
                  <a:srgbClr val="2E86C1"/>
                </a:solidFill>
                <a:latin typeface="Meiryo"/>
              </a:defRPr>
            </a:pPr>
            <a:r>
              <a:t>分析手法の詳細</a:t>
            </a:r>
          </a:p>
        </p:txBody>
      </p:sp>
      <p:sp>
        <p:nvSpPr>
          <p:cNvPr id="15" name="TextBox 14"/>
          <p:cNvSpPr txBox="1"/>
          <p:nvPr/>
        </p:nvSpPr>
        <p:spPr>
          <a:xfrm>
            <a:off x="8321040" y="3566160"/>
            <a:ext cx="2834640" cy="1828800"/>
          </a:xfrm>
          <a:prstGeom prst="rect">
            <a:avLst/>
          </a:prstGeom>
          <a:noFill/>
        </p:spPr>
        <p:txBody>
          <a:bodyPr wrap="square">
            <a:spAutoFit/>
          </a:bodyPr>
          <a:lstStyle/>
          <a:p>
            <a:pPr algn="ctr">
              <a:defRPr sz="1400" b="0">
                <a:solidFill>
                  <a:srgbClr val="2C3E50"/>
                </a:solidFill>
                <a:latin typeface="Meiryo"/>
              </a:defRPr>
            </a:pPr>
            <a:r>
              <a:t>因果関係の検証に適した</a:t>
            </a:r>
            <a:br/>
            <a:r>
              <a:t>ミクロ計量的手法を用いる。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200" b="1">
                <a:solidFill>
                  <a:srgbClr val="1B3A5C"/>
                </a:solidFill>
                <a:latin typeface="Meiryo"/>
              </a:defRPr>
            </a:pPr>
            <a:r>
              <a:t>4. 結果</a:t>
            </a:r>
          </a:p>
        </p:txBody>
      </p:sp>
      <p:sp>
        <p:nvSpPr>
          <p:cNvPr id="4" name="Rectangle 3"/>
          <p:cNvSpPr/>
          <p:nvPr/>
        </p:nvSpPr>
        <p:spPr>
          <a:xfrm>
            <a:off x="731520" y="1645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73152" cy="20116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4389120" cy="457200"/>
          </a:xfrm>
          <a:prstGeom prst="rect">
            <a:avLst/>
          </a:prstGeom>
          <a:noFill/>
        </p:spPr>
        <p:txBody>
          <a:bodyPr wrap="square">
            <a:spAutoFit/>
          </a:bodyPr>
          <a:lstStyle/>
          <a:p>
            <a:pPr algn="l">
              <a:defRPr sz="1800" b="1">
                <a:solidFill>
                  <a:srgbClr val="2E86C1"/>
                </a:solidFill>
                <a:latin typeface="Meiryo"/>
              </a:defRPr>
            </a:pPr>
            <a:r>
              <a:t>主要な結果</a:t>
            </a:r>
          </a:p>
        </p:txBody>
      </p:sp>
      <p:sp>
        <p:nvSpPr>
          <p:cNvPr id="7" name="TextBox 6"/>
          <p:cNvSpPr txBox="1"/>
          <p:nvPr/>
        </p:nvSpPr>
        <p:spPr>
          <a:xfrm>
            <a:off x="1097280" y="2377440"/>
            <a:ext cx="4389120" cy="1097280"/>
          </a:xfrm>
          <a:prstGeom prst="rect">
            <a:avLst/>
          </a:prstGeom>
          <a:noFill/>
        </p:spPr>
        <p:txBody>
          <a:bodyPr wrap="square">
            <a:spAutoFit/>
          </a:bodyPr>
          <a:lstStyle/>
          <a:p>
            <a:pPr algn="l">
              <a:defRPr sz="1400" b="0">
                <a:solidFill>
                  <a:srgbClr val="2C3E50"/>
                </a:solidFill>
                <a:latin typeface="Meiryo"/>
              </a:defRPr>
            </a:pPr>
            <a:r>
              <a:t>ソーシャルメディア利用がメンタルヘルスに与える影響についての主要な結果を示す。</a:t>
            </a:r>
          </a:p>
        </p:txBody>
      </p:sp>
      <p:sp>
        <p:nvSpPr>
          <p:cNvPr id="8" name="Rectangle 7"/>
          <p:cNvSpPr/>
          <p:nvPr/>
        </p:nvSpPr>
        <p:spPr>
          <a:xfrm>
            <a:off x="6217920" y="1645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73152" cy="20116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28800"/>
            <a:ext cx="4389120" cy="457200"/>
          </a:xfrm>
          <a:prstGeom prst="rect">
            <a:avLst/>
          </a:prstGeom>
          <a:noFill/>
        </p:spPr>
        <p:txBody>
          <a:bodyPr wrap="square">
            <a:spAutoFit/>
          </a:bodyPr>
          <a:lstStyle/>
          <a:p>
            <a:pPr algn="l">
              <a:defRPr sz="1800" b="1">
                <a:solidFill>
                  <a:srgbClr val="2E86C1"/>
                </a:solidFill>
                <a:latin typeface="Meiryo"/>
              </a:defRPr>
            </a:pPr>
            <a:r>
              <a:t>ロバスト性の検証</a:t>
            </a:r>
          </a:p>
        </p:txBody>
      </p:sp>
      <p:sp>
        <p:nvSpPr>
          <p:cNvPr id="11" name="TextBox 10"/>
          <p:cNvSpPr txBox="1"/>
          <p:nvPr/>
        </p:nvSpPr>
        <p:spPr>
          <a:xfrm>
            <a:off x="6583680" y="2377440"/>
            <a:ext cx="4389120" cy="1097280"/>
          </a:xfrm>
          <a:prstGeom prst="rect">
            <a:avLst/>
          </a:prstGeom>
          <a:noFill/>
        </p:spPr>
        <p:txBody>
          <a:bodyPr wrap="square">
            <a:spAutoFit/>
          </a:bodyPr>
          <a:lstStyle/>
          <a:p>
            <a:pPr algn="l">
              <a:defRPr sz="1400" b="0">
                <a:solidFill>
                  <a:srgbClr val="2C3E50"/>
                </a:solidFill>
                <a:latin typeface="Meiryo"/>
              </a:defRPr>
            </a:pPr>
            <a:r>
              <a:t>結果が様々な条件下でも一貫しているかを検証する。</a:t>
            </a:r>
          </a:p>
        </p:txBody>
      </p:sp>
      <p:sp>
        <p:nvSpPr>
          <p:cNvPr id="12" name="Rectangle 11"/>
          <p:cNvSpPr/>
          <p:nvPr/>
        </p:nvSpPr>
        <p:spPr>
          <a:xfrm>
            <a:off x="731520" y="3931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31920"/>
            <a:ext cx="73152" cy="20116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114800"/>
            <a:ext cx="4389120" cy="457200"/>
          </a:xfrm>
          <a:prstGeom prst="rect">
            <a:avLst/>
          </a:prstGeom>
          <a:noFill/>
        </p:spPr>
        <p:txBody>
          <a:bodyPr wrap="square">
            <a:spAutoFit/>
          </a:bodyPr>
          <a:lstStyle/>
          <a:p>
            <a:pPr algn="l">
              <a:defRPr sz="1800" b="1">
                <a:solidFill>
                  <a:srgbClr val="2E86C1"/>
                </a:solidFill>
                <a:latin typeface="Meiryo"/>
              </a:defRPr>
            </a:pPr>
            <a:r>
              <a:t>サブサンプル・感度分析</a:t>
            </a:r>
          </a:p>
        </p:txBody>
      </p:sp>
      <p:sp>
        <p:nvSpPr>
          <p:cNvPr id="15" name="TextBox 14"/>
          <p:cNvSpPr txBox="1"/>
          <p:nvPr/>
        </p:nvSpPr>
        <p:spPr>
          <a:xfrm>
            <a:off x="1097280" y="4663440"/>
            <a:ext cx="4389120" cy="1097280"/>
          </a:xfrm>
          <a:prstGeom prst="rect">
            <a:avLst/>
          </a:prstGeom>
          <a:noFill/>
        </p:spPr>
        <p:txBody>
          <a:bodyPr wrap="square">
            <a:spAutoFit/>
          </a:bodyPr>
          <a:lstStyle/>
          <a:p>
            <a:pPr algn="l">
              <a:defRPr sz="1400" b="0">
                <a:solidFill>
                  <a:srgbClr val="2C3E50"/>
                </a:solidFill>
                <a:latin typeface="Meiryo"/>
              </a:defRPr>
            </a:pPr>
            <a:r>
              <a:t>年齢層や性別、ソーシャルメディアの種類別などのサブグループ分析を行う。</a:t>
            </a:r>
          </a:p>
        </p:txBody>
      </p:sp>
      <p:sp>
        <p:nvSpPr>
          <p:cNvPr id="16" name="Rectangle 15"/>
          <p:cNvSpPr/>
          <p:nvPr/>
        </p:nvSpPr>
        <p:spPr>
          <a:xfrm>
            <a:off x="6217920" y="3931920"/>
            <a:ext cx="502920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931920"/>
            <a:ext cx="73152" cy="20116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114800"/>
            <a:ext cx="4389120" cy="457200"/>
          </a:xfrm>
          <a:prstGeom prst="rect">
            <a:avLst/>
          </a:prstGeom>
          <a:noFill/>
        </p:spPr>
        <p:txBody>
          <a:bodyPr wrap="square">
            <a:spAutoFit/>
          </a:bodyPr>
          <a:lstStyle/>
          <a:p>
            <a:pPr algn="l">
              <a:defRPr sz="1800" b="1">
                <a:solidFill>
                  <a:srgbClr val="2E86C1"/>
                </a:solidFill>
                <a:latin typeface="Meiryo"/>
              </a:defRPr>
            </a:pPr>
            <a:r>
              <a:t>社会的・政策的含意</a:t>
            </a:r>
          </a:p>
        </p:txBody>
      </p:sp>
      <p:sp>
        <p:nvSpPr>
          <p:cNvPr id="19" name="TextBox 18"/>
          <p:cNvSpPr txBox="1"/>
          <p:nvPr/>
        </p:nvSpPr>
        <p:spPr>
          <a:xfrm>
            <a:off x="6583680" y="4663440"/>
            <a:ext cx="4389120" cy="1097280"/>
          </a:xfrm>
          <a:prstGeom prst="rect">
            <a:avLst/>
          </a:prstGeom>
          <a:noFill/>
        </p:spPr>
        <p:txBody>
          <a:bodyPr wrap="square">
            <a:spAutoFit/>
          </a:bodyPr>
          <a:lstStyle/>
          <a:p>
            <a:pPr algn="l">
              <a:defRPr sz="1400" b="0">
                <a:solidFill>
                  <a:srgbClr val="2C3E50"/>
                </a:solidFill>
                <a:latin typeface="Meiryo"/>
              </a:defRPr>
            </a:pPr>
            <a:r>
              <a:t>若者のメンタルヘルスに対するソーシャルメディアの影響について、政策的な示唆を提供する。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200" b="1">
                <a:solidFill>
                  <a:srgbClr val="1B3A5C"/>
                </a:solidFill>
                <a:latin typeface="Meiryo"/>
              </a:defRPr>
            </a:pPr>
            <a:r>
              <a:t>5. 結論</a:t>
            </a:r>
          </a:p>
        </p:txBody>
      </p:sp>
      <p:sp>
        <p:nvSpPr>
          <p:cNvPr id="4" name="Rectangle 3"/>
          <p:cNvSpPr/>
          <p:nvPr/>
        </p:nvSpPr>
        <p:spPr>
          <a:xfrm>
            <a:off x="731520" y="1645920"/>
            <a:ext cx="10515600"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73152"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3200400" cy="457200"/>
          </a:xfrm>
          <a:prstGeom prst="rect">
            <a:avLst/>
          </a:prstGeom>
          <a:noFill/>
        </p:spPr>
        <p:txBody>
          <a:bodyPr wrap="square">
            <a:spAutoFit/>
          </a:bodyPr>
          <a:lstStyle/>
          <a:p>
            <a:pPr algn="l">
              <a:defRPr sz="1800" b="1">
                <a:solidFill>
                  <a:srgbClr val="2E86C1"/>
                </a:solidFill>
                <a:latin typeface="Meiryo"/>
              </a:defRPr>
            </a:pPr>
            <a:r>
              <a:t>研究の要約</a:t>
            </a:r>
          </a:p>
        </p:txBody>
      </p:sp>
      <p:sp>
        <p:nvSpPr>
          <p:cNvPr id="7" name="TextBox 6"/>
          <p:cNvSpPr txBox="1"/>
          <p:nvPr/>
        </p:nvSpPr>
        <p:spPr>
          <a:xfrm>
            <a:off x="4572000" y="1737360"/>
            <a:ext cx="6400800" cy="822960"/>
          </a:xfrm>
          <a:prstGeom prst="rect">
            <a:avLst/>
          </a:prstGeom>
          <a:noFill/>
        </p:spPr>
        <p:txBody>
          <a:bodyPr wrap="square">
            <a:spAutoFit/>
          </a:bodyPr>
          <a:lstStyle/>
          <a:p>
            <a:pPr algn="l">
              <a:defRPr sz="1600" b="0">
                <a:solidFill>
                  <a:srgbClr val="2C3E50"/>
                </a:solidFill>
                <a:latin typeface="Meiryo"/>
              </a:defRPr>
            </a:pPr>
            <a:r>
              <a:t>主要な結果とその意味を簡潔にまとめる。</a:t>
            </a:r>
          </a:p>
        </p:txBody>
      </p:sp>
      <p:sp>
        <p:nvSpPr>
          <p:cNvPr id="8" name="Rectangle 7"/>
          <p:cNvSpPr/>
          <p:nvPr/>
        </p:nvSpPr>
        <p:spPr>
          <a:xfrm>
            <a:off x="731520" y="2834640"/>
            <a:ext cx="10515600"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834640"/>
            <a:ext cx="73152"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926080"/>
            <a:ext cx="3200400" cy="457200"/>
          </a:xfrm>
          <a:prstGeom prst="rect">
            <a:avLst/>
          </a:prstGeom>
          <a:noFill/>
        </p:spPr>
        <p:txBody>
          <a:bodyPr wrap="square">
            <a:spAutoFit/>
          </a:bodyPr>
          <a:lstStyle/>
          <a:p>
            <a:pPr algn="l">
              <a:defRPr sz="1800" b="1">
                <a:solidFill>
                  <a:srgbClr val="2E86C1"/>
                </a:solidFill>
                <a:latin typeface="Meiryo"/>
              </a:defRPr>
            </a:pPr>
            <a:r>
              <a:t>研究の貢献</a:t>
            </a:r>
          </a:p>
        </p:txBody>
      </p:sp>
      <p:sp>
        <p:nvSpPr>
          <p:cNvPr id="11" name="TextBox 10"/>
          <p:cNvSpPr txBox="1"/>
          <p:nvPr/>
        </p:nvSpPr>
        <p:spPr>
          <a:xfrm>
            <a:off x="4572000" y="2926080"/>
            <a:ext cx="6400800" cy="822960"/>
          </a:xfrm>
          <a:prstGeom prst="rect">
            <a:avLst/>
          </a:prstGeom>
          <a:noFill/>
        </p:spPr>
        <p:txBody>
          <a:bodyPr wrap="square">
            <a:spAutoFit/>
          </a:bodyPr>
          <a:lstStyle/>
          <a:p>
            <a:pPr algn="l">
              <a:defRPr sz="1600" b="0">
                <a:solidFill>
                  <a:srgbClr val="2C3E50"/>
                </a:solidFill>
                <a:latin typeface="Meiryo"/>
              </a:defRPr>
            </a:pPr>
            <a:r>
              <a:t>既存の知識にどのように貢献するかを述べる。</a:t>
            </a:r>
          </a:p>
        </p:txBody>
      </p:sp>
      <p:sp>
        <p:nvSpPr>
          <p:cNvPr id="12" name="Rectangle 11"/>
          <p:cNvSpPr/>
          <p:nvPr/>
        </p:nvSpPr>
        <p:spPr>
          <a:xfrm>
            <a:off x="731520" y="4023360"/>
            <a:ext cx="10515600"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73152"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114800"/>
            <a:ext cx="3200400" cy="457200"/>
          </a:xfrm>
          <a:prstGeom prst="rect">
            <a:avLst/>
          </a:prstGeom>
          <a:noFill/>
        </p:spPr>
        <p:txBody>
          <a:bodyPr wrap="square">
            <a:spAutoFit/>
          </a:bodyPr>
          <a:lstStyle/>
          <a:p>
            <a:pPr algn="l">
              <a:defRPr sz="1800" b="1">
                <a:solidFill>
                  <a:srgbClr val="2E86C1"/>
                </a:solidFill>
                <a:latin typeface="Meiryo"/>
              </a:defRPr>
            </a:pPr>
            <a:r>
              <a:t>研究の限界と今後の課題</a:t>
            </a:r>
          </a:p>
        </p:txBody>
      </p:sp>
      <p:sp>
        <p:nvSpPr>
          <p:cNvPr id="15" name="TextBox 14"/>
          <p:cNvSpPr txBox="1"/>
          <p:nvPr/>
        </p:nvSpPr>
        <p:spPr>
          <a:xfrm>
            <a:off x="4572000" y="4114800"/>
            <a:ext cx="6400800" cy="822960"/>
          </a:xfrm>
          <a:prstGeom prst="rect">
            <a:avLst/>
          </a:prstGeom>
          <a:noFill/>
        </p:spPr>
        <p:txBody>
          <a:bodyPr wrap="square">
            <a:spAutoFit/>
          </a:bodyPr>
          <a:lstStyle/>
          <a:p>
            <a:pPr algn="l">
              <a:defRPr sz="1600" b="0">
                <a:solidFill>
                  <a:srgbClr val="2C3E50"/>
                </a:solidFill>
                <a:latin typeface="Meiryo"/>
              </a:defRPr>
            </a:pPr>
            <a:r>
              <a:t>制約や今後取り組むべき課題について議論する。</a:t>
            </a:r>
          </a:p>
        </p:txBody>
      </p:sp>
      <p:sp>
        <p:nvSpPr>
          <p:cNvPr id="16" name="Rectangle 15"/>
          <p:cNvSpPr/>
          <p:nvPr/>
        </p:nvSpPr>
        <p:spPr>
          <a:xfrm>
            <a:off x="731520" y="5212080"/>
            <a:ext cx="10515600"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212080"/>
            <a:ext cx="73152"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303520"/>
            <a:ext cx="3200400" cy="457200"/>
          </a:xfrm>
          <a:prstGeom prst="rect">
            <a:avLst/>
          </a:prstGeom>
          <a:noFill/>
        </p:spPr>
        <p:txBody>
          <a:bodyPr wrap="square">
            <a:spAutoFit/>
          </a:bodyPr>
          <a:lstStyle/>
          <a:p>
            <a:pPr algn="l">
              <a:defRPr sz="1800" b="1">
                <a:solidFill>
                  <a:srgbClr val="2E86C1"/>
                </a:solidFill>
                <a:latin typeface="Meiryo"/>
              </a:defRPr>
            </a:pPr>
            <a:r>
              <a:t>政策提言</a:t>
            </a:r>
          </a:p>
        </p:txBody>
      </p:sp>
      <p:sp>
        <p:nvSpPr>
          <p:cNvPr id="19" name="TextBox 18"/>
          <p:cNvSpPr txBox="1"/>
          <p:nvPr/>
        </p:nvSpPr>
        <p:spPr>
          <a:xfrm>
            <a:off x="4572000" y="5303520"/>
            <a:ext cx="6400800" cy="822960"/>
          </a:xfrm>
          <a:prstGeom prst="rect">
            <a:avLst/>
          </a:prstGeom>
          <a:noFill/>
        </p:spPr>
        <p:txBody>
          <a:bodyPr wrap="square">
            <a:spAutoFit/>
          </a:bodyPr>
          <a:lstStyle/>
          <a:p>
            <a:pPr algn="l">
              <a:defRPr sz="1600" b="0">
                <a:solidFill>
                  <a:srgbClr val="2C3E50"/>
                </a:solidFill>
                <a:latin typeface="Meiryo"/>
              </a:defRPr>
            </a:pPr>
            <a:r>
              <a:t>ソーシャルメディア利用に対する政策的な提言を行う。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200" b="1">
                <a:solidFill>
                  <a:srgbClr val="1B3A5C"/>
                </a:solidFill>
                <a:latin typeface="Meiryo"/>
              </a:defRPr>
            </a:pPr>
            <a:r>
              <a:t>参考文献</a:t>
            </a:r>
          </a:p>
        </p:txBody>
      </p:sp>
      <p:sp>
        <p:nvSpPr>
          <p:cNvPr id="4" name="TextBox 3"/>
          <p:cNvSpPr txBox="1"/>
          <p:nvPr/>
        </p:nvSpPr>
        <p:spPr>
          <a:xfrm>
            <a:off x="1097280" y="1645920"/>
            <a:ext cx="9144000" cy="914400"/>
          </a:xfrm>
          <a:prstGeom prst="rect">
            <a:avLst/>
          </a:prstGeom>
          <a:noFill/>
        </p:spPr>
        <p:txBody>
          <a:bodyPr wrap="square">
            <a:spAutoFit/>
          </a:bodyPr>
          <a:lstStyle/>
          <a:p>
            <a:pPr algn="l">
              <a:defRPr sz="1800" b="0">
                <a:solidFill>
                  <a:srgbClr val="2C3E50"/>
                </a:solidFill>
                <a:latin typeface="Meiryo"/>
              </a:defRPr>
            </a:pPr>
            <a:r>
              <a:t>参考にした文献の一覧（著者名、出版年、タイトル、出版社、ページ番号）</a:t>
            </a:r>
          </a:p>
        </p:txBody>
      </p:sp>
      <p:sp>
        <p:nvSpPr>
          <p:cNvPr id="5" name="TextBox 4"/>
          <p:cNvSpPr txBox="1"/>
          <p:nvPr/>
        </p:nvSpPr>
        <p:spPr>
          <a:xfrm>
            <a:off x="1097280" y="3200400"/>
            <a:ext cx="9144000" cy="914400"/>
          </a:xfrm>
          <a:prstGeom prst="rect">
            <a:avLst/>
          </a:prstGeom>
          <a:noFill/>
        </p:spPr>
        <p:txBody>
          <a:bodyPr wrap="square">
            <a:spAutoFit/>
          </a:bodyPr>
          <a:lstStyle/>
          <a:p>
            <a:pPr algn="l">
              <a:defRPr sz="2400" b="1">
                <a:solidFill>
                  <a:srgbClr val="1B3A5C"/>
                </a:solidFill>
                <a:latin typeface="Meiryo"/>
              </a:defRPr>
            </a:pPr>
            <a:r>
              <a:t>付録（必要に応じて）</a:t>
            </a:r>
          </a:p>
        </p:txBody>
      </p:sp>
      <p:sp>
        <p:nvSpPr>
          <p:cNvPr id="6" name="TextBox 5"/>
          <p:cNvSpPr txBox="1"/>
          <p:nvPr/>
        </p:nvSpPr>
        <p:spPr>
          <a:xfrm>
            <a:off x="1371600" y="3931920"/>
            <a:ext cx="9144000" cy="1828800"/>
          </a:xfrm>
          <a:prstGeom prst="rect">
            <a:avLst/>
          </a:prstGeom>
          <a:noFill/>
        </p:spPr>
        <p:txBody>
          <a:bodyPr wrap="square">
            <a:spAutoFit/>
          </a:bodyPr>
          <a:lstStyle/>
          <a:p>
            <a:pPr>
              <a:spcAft>
                <a:spcPts val="800"/>
              </a:spcAft>
              <a:defRPr sz="1800">
                <a:solidFill>
                  <a:srgbClr val="2C3E50"/>
                </a:solidFill>
                <a:latin typeface="Meiryo"/>
              </a:defRPr>
            </a:pPr>
            <a:r>
              <a:t>追加の分析結果や図表</a:t>
            </a:r>
          </a:p>
          <a:p>
            <a:pPr>
              <a:spcAft>
                <a:spcPts val="800"/>
              </a:spcAft>
              <a:defRPr sz="1800">
                <a:solidFill>
                  <a:srgbClr val="2C3E50"/>
                </a:solidFill>
                <a:latin typeface="Meiryo"/>
              </a:defRPr>
            </a:pPr>
            <a:r>
              <a:t>分析に使用したプログラムコードや計算手順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3657600" y="2560320"/>
            <a:ext cx="91440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743200"/>
            <a:ext cx="9144000" cy="1097280"/>
          </a:xfrm>
          <a:prstGeom prst="rect">
            <a:avLst/>
          </a:prstGeom>
          <a:noFill/>
        </p:spPr>
        <p:txBody>
          <a:bodyPr wrap="square">
            <a:spAutoFit/>
          </a:bodyPr>
          <a:lstStyle/>
          <a:p>
            <a:pPr algn="ctr">
              <a:defRPr sz="4000" b="1">
                <a:solidFill>
                  <a:srgbClr val="FFFFFF"/>
                </a:solidFill>
                <a:latin typeface="Meiryo"/>
              </a:defRPr>
            </a:pPr>
            <a:r>
              <a:t>ご清聴ありがとうございました</a:t>
            </a:r>
          </a:p>
        </p:txBody>
      </p:sp>
      <p:sp>
        <p:nvSpPr>
          <p:cNvPr id="4" name="TextBox 3"/>
          <p:cNvSpPr txBox="1"/>
          <p:nvPr/>
        </p:nvSpPr>
        <p:spPr>
          <a:xfrm>
            <a:off x="1371600" y="4114800"/>
            <a:ext cx="9144000" cy="731520"/>
          </a:xfrm>
          <a:prstGeom prst="rect">
            <a:avLst/>
          </a:prstGeom>
          <a:noFill/>
        </p:spPr>
        <p:txBody>
          <a:bodyPr wrap="square">
            <a:spAutoFit/>
          </a:bodyPr>
          <a:lstStyle/>
          <a:p>
            <a:pPr algn="ctr">
              <a:defRPr sz="2000" b="0">
                <a:solidFill>
                  <a:srgbClr val="AEBFD5"/>
                </a:solidFill>
                <a:latin typeface="Meiryo"/>
              </a:defRPr>
            </a:pPr>
            <a:r>
              <a:t>ご質問・ご意見をお待ちしております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